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3A5F"/>
                </a:solidFill>
              </a:defRPr>
            </a:pPr>
            <a:r>
              <a:t>YILDIZ TEKNİK ÜNİVERSİTESİ - FEN BİLİMLERİ ENSTİTÜSÜ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C7D"/>
                </a:solidFill>
              </a:defRPr>
            </a:pPr>
            <a:r>
              <a:t>Veri Bilimi ve Büyük Veri Ana Bilim Dalı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463040"/>
            <a:ext cx="3931920" cy="457200"/>
          </a:xfrm>
          <a:prstGeom prst="round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IST5118 - Uygulamalı Zaman Serileri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</a:defRPr>
            </a:pPr>
            <a:r>
              <a:t>Türkiye Elektrik Üretim ve Tüketim</a:t>
            </a:r>
          </a:p>
          <a:p>
            <a:pPr algn="ctr">
              <a:defRPr sz="4400" b="1">
                <a:solidFill>
                  <a:srgbClr val="1E3A5F"/>
                </a:solidFill>
              </a:defRPr>
            </a:pPr>
            <a:r>
              <a:t>Serilerinde Mevsimsellik ve Trend Ayrıştırması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5A6C7D"/>
                </a:solidFill>
              </a:defRPr>
            </a:pPr>
            <a:r>
              <a:t>STL Ayrıştırma ve SARIMA Modelleme Yaklaşımı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389120"/>
            <a:ext cx="5760720" cy="1371600"/>
          </a:xfrm>
          <a:prstGeom prst="rect">
            <a:avLst/>
          </a:prstGeom>
          <a:solidFill>
            <a:srgbClr val="F0F4F8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E3A5F"/>
                </a:solidFill>
              </a:defRPr>
            </a:pPr>
            <a:r>
              <a:t>Hazırlayanlar: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245B7028 - Sezer Küçükcan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255B7003 - Mohammed Izedin Mohammed</a:t>
            </a:r>
          </a:p>
          <a:p>
            <a:br/>
            <a:pPr algn="ctr">
              <a:defRPr sz="1400" b="1">
                <a:solidFill>
                  <a:srgbClr val="1E3A5F"/>
                </a:solidFill>
              </a:defRPr>
            </a:pPr>
            <a:r>
              <a:t>Dersi Veren: Prof. Dr. Ali Hakan Büyüklü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C7D"/>
                </a:solidFill>
              </a:defRPr>
            </a:pPr>
            <a:r>
              <a:t>2025 – 2026 Güz Dönemi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İçindekiler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1. Ödev Konusunun Amacı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2. Literatür Taraması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3. Veri Seti ve Ön İşleme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4. Yöntem (Metodoloji)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5. Keşifçi Veri Analizi (EDA)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6. STL Ayrıştırma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7. Durağanlık ve Tanı Testleri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8. SARIMA Modelleme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9. Tahmin ve Değerlendirme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10. Bulgular ve Tartışma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11. Sonuç ve Öneriler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1. Ödev Konusunun Amacı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Problem Tanımı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Elektrik, depolanması zor ve maliyetli bir emtia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Üretim ve tüketim dengesinin anlık olarak sağlanması gerekir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Kısa, orta ve uzun vadeli talep tahminlerine ihtiyaç duyulur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Çalışmanın Amacı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TEİAŞ aylık elektrik üretim verilerini analiz etmek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Serinin temel bileşenlerini (trend, mevsimsellik) ortaya çıkarmak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Gelecek dönemler için güvenilir tahminler üretmek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Önem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Enerji arz güvenliğinin sağlanması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Yatırım planlaması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Piyasa operasyonlarının verimliliği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2. Literatür Taraması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STL Tabanlı Ayrıştırma Yöntemleri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Sun et al. (2019): X12 ve STL ile aylık elektrik tüketim tahmini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Mevsimsel yapıyı başarılı biçimde izole ettiği gösterilmiştir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Decomposition-Combination Yaklaşımları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Iftikhar et al. (2023): Gün öncesi elektrik talebi tahmini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Klasik SARIMA ve ETS modellerine kıyasla daha yüksek doğruluk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Hibrit Modeller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Zhang &amp; Li (2021): STL + SARIMA + ANN + LSTM kombinasyonu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Tekil modellere göre daha istikrarlı sonuçlar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Aykırı Değer Dayanıklılığı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STL'nin uç değerlere karşı dayanıklı yapısı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Pandemi gibi olağan dışı dönemlerin etkin analizi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3. Veri Seti ve Ön İşleme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Veri Kaynağı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TEİAŞ (Türkiye Elektrik İletim A.Ş.)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Resmi aylık üretim-tüketim raporları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Değişken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Total_Üretim: Toplam aylık elektrik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Birim: GWh (Gigawatt-saat)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Tüm kaynaklar dahil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Ön İşleme Adımları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Tarih → datetime formatı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Zaman serisi indeksi atama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Eksik veri kontrolü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Aylık frekans (MS) ayarlama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80160"/>
            <a:ext cx="20116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Frekans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Aylık (Monthly)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39"/>
            <a:ext cx="20116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Dönem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920239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Ocak 2019 - Ekim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560320"/>
            <a:ext cx="20116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Gözlem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56032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82 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00399"/>
            <a:ext cx="20116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Eğitim Seti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200399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70 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840479"/>
            <a:ext cx="20116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Seti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840479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12 ay (Holdout)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4. Yöntem (Metodoloji)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2194560"/>
          </a:xfrm>
          <a:prstGeom prst="roundRect">
            <a:avLst/>
          </a:prstGeom>
          <a:solidFill>
            <a:srgbClr val="E3F2FD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1. Yazılım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Python: numpy, pandas</a:t>
            </a:r>
            <a:br/>
            <a:r>
              <a:t>statsmodels, pmdarima</a:t>
            </a:r>
            <a:br/>
            <a:r>
              <a:t>matplotlib, seaborn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188720"/>
            <a:ext cx="3474720" cy="2194560"/>
          </a:xfrm>
          <a:prstGeom prst="roundRect">
            <a:avLst/>
          </a:prstGeom>
          <a:solidFill>
            <a:srgbClr val="E3F2FD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2.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Zaman serisi grafiği</a:t>
            </a:r>
            <a:br/>
            <a:r>
              <a:t>Yıllık değişim (YoY%)</a:t>
            </a:r>
            <a:br/>
            <a:r>
              <a:t>Mevsimsel boxplot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188720"/>
            <a:ext cx="3474720" cy="2194560"/>
          </a:xfrm>
          <a:prstGeom prst="roundRect">
            <a:avLst/>
          </a:prstGeom>
          <a:solidFill>
            <a:srgbClr val="E3F2FD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3. Ayrıştırma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STL Decomposition</a:t>
            </a:r>
            <a:br/>
            <a:r>
              <a:t>Trend + Mevsimsel + Kalıntı</a:t>
            </a:r>
            <a:br/>
            <a:r>
              <a:t>robust=True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474720" cy="2194560"/>
          </a:xfrm>
          <a:prstGeom prst="roundRect">
            <a:avLst/>
          </a:prstGeom>
          <a:solidFill>
            <a:srgbClr val="E8F5E9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4. Durağanlık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7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ADF Testi</a:t>
            </a:r>
            <a:br/>
            <a:r>
              <a:t>KPSS Testi</a:t>
            </a:r>
            <a:br/>
            <a:r>
              <a:t>Fark alma (differencing)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749039"/>
            <a:ext cx="3474720" cy="2194560"/>
          </a:xfrm>
          <a:prstGeom prst="roundRect">
            <a:avLst/>
          </a:prstGeom>
          <a:solidFill>
            <a:srgbClr val="E8F5E9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7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5. Modelleme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9767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SARIMA (p,d,q)(P,D,Q)m</a:t>
            </a:r>
            <a:br/>
            <a:r>
              <a:t>Auto-ARIMA ile</a:t>
            </a:r>
            <a:br/>
            <a:r>
              <a:t>parametre seçimi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749039"/>
            <a:ext cx="3474720" cy="2194560"/>
          </a:xfrm>
          <a:prstGeom prst="roundRect">
            <a:avLst/>
          </a:prstGeom>
          <a:solidFill>
            <a:srgbClr val="E8F5E9"/>
          </a:solidFill>
          <a:ln>
            <a:solidFill>
              <a:srgbClr val="2D5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84047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6. Değerlendirme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7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Holdout validasyon</a:t>
            </a:r>
            <a:br/>
            <a:r>
              <a:t>RMSE, MAE, MAPE</a:t>
            </a:r>
            <a:br/>
            <a:r>
              <a:t>Kalıntı analizi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5. Keşifçi Veri Analizi - Zaman Serisi</a:t>
            </a:r>
          </a:p>
        </p:txBody>
      </p:sp>
      <p:pic>
        <p:nvPicPr>
          <p:cNvPr id="4" name="Picture 3" descr="series_Total_Üre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097280"/>
            <a:ext cx="3657600" cy="1463040"/>
          </a:xfrm>
          <a:prstGeom prst="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📈 Trend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Elektrik üretimi yıllar içinde sürekli artış göstermektedir. Ekonomik büyüme ve nüfus artışı etkili.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743200"/>
            <a:ext cx="3657600" cy="1463040"/>
          </a:xfrm>
          <a:prstGeom prst="rect">
            <a:avLst/>
          </a:prstGeom>
          <a:solidFill>
            <a:srgbClr val="E8F5E9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🔄 Mevsimsellik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Her yıl tekrarlanan döngü: Yaz aylarında yüksek (klima), kış aylarında yüksek (ısınma).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4389120"/>
            <a:ext cx="3657600" cy="1463040"/>
          </a:xfrm>
          <a:prstGeom prst="rect">
            <a:avLst/>
          </a:prstGeom>
          <a:solidFill>
            <a:srgbClr val="FFF8E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⚠️ COVID-19 Etkisi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2020 Nisan'da belirgin düşüş gözlemlenmektedir. STL robust yöntemi ile izole edildi.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5. Keşifçi Veri Analizi - Mevsimsellik</a:t>
            </a:r>
          </a:p>
        </p:txBody>
      </p:sp>
      <p:pic>
        <p:nvPicPr>
          <p:cNvPr id="4" name="Picture 3" descr="yoy_Total_Üre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852160" cy="4389120"/>
          </a:xfrm>
          <a:prstGeom prst="rect">
            <a:avLst/>
          </a:prstGeom>
        </p:spPr>
      </p:pic>
      <p:pic>
        <p:nvPicPr>
          <p:cNvPr id="5" name="Picture 4" descr="month_boxplot_Total_Üret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852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E3A5F"/>
                </a:solidFill>
              </a:defRPr>
            </a:pPr>
            <a:r>
              <a:t>Sol: Yıldan Yıla Değişim (%)  |  Sağ: Aylara Göre Üretim Dağılımı (Boxplot)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6. STL Ayrıştırma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005840"/>
            <a:ext cx="6675120" cy="548640"/>
          </a:xfrm>
          <a:prstGeom prst="rect">
            <a:avLst/>
          </a:prstGeom>
          <a:solidFill>
            <a:srgbClr val="FAFAF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3A5F"/>
                </a:solidFill>
              </a:defRPr>
            </a:pPr>
            <a:r>
              <a:t>Y(t) = Trend(t) + Seasonal(t) + Residual(t)</a:t>
            </a:r>
          </a:p>
        </p:txBody>
      </p:sp>
      <p:pic>
        <p:nvPicPr>
          <p:cNvPr id="5" name="Picture 4" descr="stl_Total_Üre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E3A5F"/>
                </a:solidFill>
              </a:defRPr>
            </a:pPr>
            <a:r>
              <a:t>STL: Seasonal-Trend Decomposition using LOESS | period=12 | robust=True (aykırı değerlere dayanıklı)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7. Durağanlık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Durağanlık: İstatistiksel özellikleri (ortalama, varyans) zamanla değişmeyen seri. ARIMA/SARIMA modelleri için ön koşuldur.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645920" cy="4572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920240"/>
            <a:ext cx="2560320" cy="4572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59" y="1920240"/>
            <a:ext cx="1828800" cy="4572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İstatistik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59" y="1920240"/>
            <a:ext cx="1645920" cy="4572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p-değeri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920240"/>
            <a:ext cx="2560320" cy="4572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Sonuç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ADF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37744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Ham Veri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23774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-1.023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0.745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2377440"/>
            <a:ext cx="2560320" cy="502920"/>
          </a:xfrm>
          <a:prstGeom prst="rect">
            <a:avLst/>
          </a:prstGeom>
          <a:solidFill>
            <a:srgbClr val="FFF8E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Durağan Değil 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KPSS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88036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Ham Veri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28803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0.692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59" y="28803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0.014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880360"/>
            <a:ext cx="2560320" cy="502920"/>
          </a:xfrm>
          <a:prstGeom prst="rect">
            <a:avLst/>
          </a:prstGeom>
          <a:solidFill>
            <a:srgbClr val="FFF8E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Durağan Değil 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ADF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338328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Diff(12)+Diff(1)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3832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-10.184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≈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383280"/>
            <a:ext cx="2560320" cy="502920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Durağan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KPSS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388620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Diff(12)+Diff(1)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59" y="38862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0.068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59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0.100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886200"/>
            <a:ext cx="2560320" cy="502920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Durağan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✓ Sonuç: Mevsimsel fark (D=1) uygulandıktan sonra her iki test de serinin durağan olduğunu doğruladı.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7. Otokorelasyon Analizi (ACF/PACF)</a:t>
            </a:r>
          </a:p>
        </p:txBody>
      </p:sp>
      <p:pic>
        <p:nvPicPr>
          <p:cNvPr id="4" name="Picture 3" descr="acf_pacf_Total_Üre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4754880"/>
            <a:ext cx="5669280" cy="1645920"/>
          </a:xfrm>
          <a:prstGeom prst="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ACF (Otokorelasyon Fonksiyonu)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• Yavaş azalma → Trend varlığı</a:t>
            </a:r>
            <a:br/>
            <a:r>
              <a:t>• Lag 12, 24'te spike → Yıllık mevsimsellik</a:t>
            </a:r>
            <a:br/>
            <a:r>
              <a:t>• MA(q) derecesi belirleme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754880"/>
            <a:ext cx="5669280" cy="1645920"/>
          </a:xfrm>
          <a:prstGeom prst="rect">
            <a:avLst/>
          </a:prstGeom>
          <a:solidFill>
            <a:srgbClr val="E8F5E9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PACF (Kısmi Otokorelasyon)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• AR(p) derecesi belirleme</a:t>
            </a:r>
            <a:br/>
            <a:r>
              <a:t>• Mevsimsel AR derecesi (P)</a:t>
            </a:r>
            <a:br/>
            <a:r>
              <a:t>• Lag 12'de anlamlı spike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8. SARIMA Modeli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05840"/>
            <a:ext cx="4846320" cy="914400"/>
          </a:xfrm>
          <a:prstGeom prst="round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SARIMA(2,0,2)(2,1,2)₁₂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5303520" cy="2286000"/>
          </a:xfrm>
          <a:prstGeom prst="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5F"/>
                </a:solidFill>
              </a:defRPr>
            </a:pPr>
            <a:r>
              <a:t>Trend Parametreleri (p, d, q)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p = 2  →  AR(2): Son 2 ayın değerine bağımlılık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d = 0  →  I(0): Trend farkı gerekli değil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q = 2  →  MA(2): Son 2 ayın hatasına bağımlılık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194560"/>
            <a:ext cx="557784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5F"/>
                </a:solidFill>
              </a:defRPr>
            </a:pPr>
            <a:r>
              <a:t>Mevsimsel Parametreler (P, D, Q)m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P = 2  →  SAR(2): 12 ve 24 ay öncesine bağımlılık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D = 1  →  SI(1): Mevsimsel fark uygulandı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Q = 2  →  SMA(2): Mevsimsel hatalara bağımlılık</a:t>
            </a:r>
          </a:p>
          <a:p>
            <a:br/>
            <a:pPr>
              <a:defRPr sz="1500">
                <a:solidFill>
                  <a:srgbClr val="212121"/>
                </a:solidFill>
              </a:defRPr>
            </a:pPr>
            <a:r>
              <a:t>m = 12  →  Periyot: 12 ay (yıllık döngü)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846320"/>
            <a:ext cx="2560320" cy="1005840"/>
          </a:xfrm>
          <a:prstGeom prst="roundRect">
            <a:avLst/>
          </a:prstGeom>
          <a:solidFill>
            <a:srgbClr val="2D5A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937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257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581.82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846320"/>
            <a:ext cx="2560320" cy="1005840"/>
          </a:xfrm>
          <a:prstGeom prst="roundRect">
            <a:avLst/>
          </a:prstGeom>
          <a:solidFill>
            <a:srgbClr val="2D5A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937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257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594.73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846320"/>
            <a:ext cx="2560320" cy="1005840"/>
          </a:xfrm>
          <a:prstGeom prst="roundRect">
            <a:avLst/>
          </a:prstGeom>
          <a:solidFill>
            <a:srgbClr val="2D5A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937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Log-L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257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-281.91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9. Tahmin Performansı</a:t>
            </a:r>
          </a:p>
        </p:txBody>
      </p:sp>
      <p:pic>
        <p:nvPicPr>
          <p:cNvPr id="4" name="Picture 3" descr="forecast_vs_actual_Total_Üre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60120"/>
            <a:ext cx="8229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1097280"/>
            <a:ext cx="3291840" cy="146304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1887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5087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%6.04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03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Çok İyi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743200"/>
            <a:ext cx="3291840" cy="1463040"/>
          </a:xfrm>
          <a:prstGeom prst="round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8346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546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3,424.77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3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GWh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4389120"/>
            <a:ext cx="3291840" cy="1463040"/>
          </a:xfrm>
          <a:prstGeom prst="roundRect">
            <a:avLst/>
          </a:prstGeom>
          <a:solidFill>
            <a:srgbClr val="2D5A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4805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800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2,915.97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3949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GWh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5577840"/>
            <a:ext cx="11795760" cy="64008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3A5F"/>
                </a:solidFill>
              </a:defRPr>
            </a:pPr>
            <a:r>
              <a:t>📊 %10'un altındaki MAPE değeri literatürde 'yüksek doğrulukta tahmin' olarak kabul edilir.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9. Kalıntı Analizi ve Model Tanısı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9260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188720"/>
            <a:ext cx="20116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İstatistik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188720"/>
            <a:ext cx="182880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p-değeri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188720"/>
            <a:ext cx="3840480" cy="50292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Sonuç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Ljung-Box (Lag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9164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1.33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691640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0.25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91640"/>
            <a:ext cx="3840480" cy="548640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Otokorelasyon Yok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Jarque-Bera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24028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6.03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240280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0.05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240280"/>
            <a:ext cx="3840480" cy="548640"/>
          </a:xfrm>
          <a:prstGeom prst="rect">
            <a:avLst/>
          </a:prstGeom>
          <a:solidFill>
            <a:srgbClr val="FFF8E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Sınırda Normal (kabul)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Heteroskedasticity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78892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1.78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788920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0.38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788920"/>
            <a:ext cx="3840480" cy="548640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Sabit Varyans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577840" cy="2103120"/>
          </a:xfrm>
          <a:prstGeom prst="rect">
            <a:avLst/>
          </a:prstGeom>
          <a:solidFill>
            <a:srgbClr val="E8F5E9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✓ Olumlu Bulgular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• Ljung-Box: Kalıntılarda anlamlı otokorelasyon yok</a:t>
            </a:r>
            <a:br/>
            <a:r>
              <a:t>• Heteroskedasticity: Varyans sabit</a:t>
            </a:r>
            <a:br/>
            <a:r>
              <a:t>• Kalıntılar 'beyaz gürültü' sürecine yakın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577840" cy="2103120"/>
          </a:xfrm>
          <a:prstGeom prst="rect">
            <a:avLst/>
          </a:prstGeom>
          <a:solidFill>
            <a:srgbClr val="FFF8E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5F"/>
                </a:solidFill>
              </a:defRPr>
            </a:pPr>
            <a:r>
              <a:t>⚠️ Dikkat Edilmesi Gerekenler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• Jarque-Bera sınırda (p=0.05)</a:t>
            </a:r>
            <a:br/>
            <a:r>
              <a:t>• Skewness: -0.74 (hafif sol çarpık)</a:t>
            </a:r>
            <a:br/>
            <a:r>
              <a:t>• Kurtosis: 4.58 (sivri kuyruk)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10. Bulgular ve Tartışma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2286000"/>
          </a:xfrm>
          <a:prstGeom prst="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E3A5F"/>
                </a:solidFill>
              </a:defRPr>
            </a:pPr>
            <a:r>
              <a:t>🔍 Ayrıştırma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STL ayrıştırması ile trend, mevsimsellik ve kalıntı bileşenleri net biçimde ortaya konmuştur. COVID-19 etkisi kalıntılarda izole edilmiştir.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97280"/>
            <a:ext cx="566928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E3A5F"/>
                </a:solidFill>
              </a:defRPr>
            </a:pPr>
            <a:r>
              <a:t>📈 Trend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Seri boyunca genel artış eğilimi mevcuttur. Türkiye'nin artan enerji talebi ve kurulu güç kapasitesindeki büyüme ile uyumludur.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5669280" cy="2286000"/>
          </a:xfrm>
          <a:prstGeom prst="rect">
            <a:avLst/>
          </a:prstGeom>
          <a:solidFill>
            <a:srgbClr val="FFF8E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E3A5F"/>
                </a:solidFill>
              </a:defRPr>
            </a:pPr>
            <a:r>
              <a:t>🔄 Mevsimsellik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Her yıl tekrarlayan güçlü mevsimsel döngü: Yaz (klima) ve kış (ısınma) aylarında yüksek üretim.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657600"/>
            <a:ext cx="5669280" cy="2286000"/>
          </a:xfrm>
          <a:prstGeom prst="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1E3A5F"/>
                </a:solidFill>
              </a:defRPr>
            </a:pPr>
            <a:r>
              <a:t>✓ Model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SARIMA(2,0,2)(2,1,2)₁₂ modeli serideki bilgiyi başarıyla yakalamıştır. Kalıntılar beyaz gürültü sürecine yakınsadı.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11. Sonuç ve Öneriler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Ana Sonuçlar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Türkiye elektrik üretimi tek değişkenli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  zaman serisi yöntemleriyle modellendi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SARIMA(2,0,2)(2,1,2)₁₂ → %6.04 MAPE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Model 1-12 aylık tahminler için uygun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Güçlü Yönler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STL ile mevsimsellik ve trend ayrıştırması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COVID-19 gibi aykırı değerlere dayanıklılık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Holdout validasyon ile güvenilir ölçüm</a:t>
            </a:r>
          </a:p>
          <a:p>
            <a:pPr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 b="1">
                <a:solidFill>
                  <a:srgbClr val="1E3A5F"/>
                </a:solidFill>
              </a:defRPr>
            </a:pPr>
            <a:r>
              <a:t>Gelecek Çalışmalar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SARIMAX: Dışsal değişkenler (sıcaklık, GSYİH)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Prophet, LSTM ile karşılaştırma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Daha uzun veri ile model güncelleme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486400" cy="4572000"/>
          </a:xfrm>
          <a:prstGeom prst="round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Model Özeti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Model:  SARIMA(2,0,2)(2,1,2)₁₂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65176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Veri:  82 ay (2019-2025)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29184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Eğitim/Test:  70 ay / 12 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93192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MAPE:  %6.04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57200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RMSE:  3,424.77 GWh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21208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Ljung-Box:  p=0.25 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12. 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[1] TEİAŞ. (2024). Aylık Elektrik Üretim-Tüketim Raporları. https://www.teias.gov.tr</a:t>
            </a:r>
          </a:p>
          <a:p>
            <a:pPr>
              <a:defRPr sz="1400">
                <a:solidFill>
                  <a:srgbClr val="212121"/>
                </a:solidFill>
              </a:defRPr>
            </a:pPr>
          </a:p>
          <a:p>
            <a:pPr>
              <a:defRPr sz="1500" b="1">
                <a:solidFill>
                  <a:srgbClr val="1E3A5F"/>
                </a:solidFill>
              </a:defRPr>
            </a:pPr>
            <a:r>
              <a:t>[2] Sun, T. et al. (2019). Monthly electricity consumption forecasting method based on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     X12 and STL decomposition. Mathematical Problems in Engineering.</a:t>
            </a:r>
          </a:p>
          <a:p>
            <a:pPr>
              <a:defRPr sz="1400">
                <a:solidFill>
                  <a:srgbClr val="212121"/>
                </a:solidFill>
              </a:defRPr>
            </a:pPr>
          </a:p>
          <a:p>
            <a:pPr>
              <a:defRPr sz="1500" b="1">
                <a:solidFill>
                  <a:srgbClr val="1E3A5F"/>
                </a:solidFill>
              </a:defRPr>
            </a:pPr>
            <a:r>
              <a:t>[3] Iftikhar, H. et al. (2023). Day-ahead electricity demand forecasting using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     decomposition combination method. Energies, 16(18).</a:t>
            </a:r>
          </a:p>
          <a:p>
            <a:pPr>
              <a:defRPr sz="1400">
                <a:solidFill>
                  <a:srgbClr val="212121"/>
                </a:solidFill>
              </a:defRPr>
            </a:pPr>
          </a:p>
          <a:p>
            <a:pPr>
              <a:defRPr sz="1500" b="1">
                <a:solidFill>
                  <a:srgbClr val="1E3A5F"/>
                </a:solidFill>
              </a:defRPr>
            </a:pPr>
            <a:r>
              <a:t>[4] Iftikhar, H. et al. (2023). Multiple novel decomposition techniques for time series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     forecasting. Energies, 16(6).</a:t>
            </a:r>
          </a:p>
          <a:p>
            <a:pPr>
              <a:defRPr sz="1400">
                <a:solidFill>
                  <a:srgbClr val="212121"/>
                </a:solidFill>
              </a:defRPr>
            </a:pPr>
          </a:p>
          <a:p>
            <a:pPr>
              <a:defRPr sz="1500" b="1">
                <a:solidFill>
                  <a:srgbClr val="1E3A5F"/>
                </a:solidFill>
              </a:defRPr>
            </a:pPr>
            <a:r>
              <a:t>[5] Zhang, X. &amp; Li, R. (2021). A novel decomposition and combination technique for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     forecasting monthly electricity consumption. Frontiers in Energy Research.</a:t>
            </a:r>
          </a:p>
          <a:p>
            <a:pPr>
              <a:defRPr sz="1400">
                <a:solidFill>
                  <a:srgbClr val="212121"/>
                </a:solidFill>
              </a:defRPr>
            </a:pPr>
          </a:p>
          <a:p>
            <a:pPr>
              <a:defRPr sz="1500" b="1">
                <a:solidFill>
                  <a:srgbClr val="1E3A5F"/>
                </a:solidFill>
              </a:defRPr>
            </a:pPr>
            <a:r>
              <a:t>[6] Stefenon, S. F. et al. (2023). Aggregating Prophet and seasonal trend decomposition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     for time series forecasting. Energies, 16(3).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A5F"/>
                </a:solidFill>
              </a:defRPr>
            </a:pPr>
            <a: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5A6C7D"/>
                </a:solidFill>
              </a:defRPr>
            </a:pPr>
            <a:r>
              <a:t>Soru ve Önerileriniz İçin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657600"/>
            <a:ext cx="3931920" cy="137160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TAHMİN BAŞARISI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20624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%6.04 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C7D"/>
                </a:solidFill>
              </a:defRPr>
            </a:pPr>
            <a:r>
              <a:t>IST5118 - Uygulamalı Zaman Serileri  |  Prof. Dr. Ali Hakan Büyüklü  |  2025-2026 Güz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